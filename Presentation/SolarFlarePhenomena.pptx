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notesSlides/notesSlide8.xml" ContentType="application/vnd.openxmlformats-officedocument.presentationml.notesSlide+xml"/>
  <Override PartName="/ppt/charts/chart6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00" autoAdjust="0"/>
    <p:restoredTop sz="94610"/>
  </p:normalViewPr>
  <p:slideViewPr>
    <p:cSldViewPr snapToGrid="0" snapToObjects="1">
      <p:cViewPr>
        <p:scale>
          <a:sx n="81" d="100"/>
          <a:sy n="81" d="100"/>
        </p:scale>
        <p:origin x="312" y="-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Strongest |r|</c:v>
                </c:pt>
              </c:strCache>
            </c:strRef>
          </c:tx>
          <c:spPr>
            <a:solidFill>
              <a:srgbClr val="F2994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D5E-4DA7-ABDF-08DF1D49373A}"/>
              </c:ext>
            </c:extLst>
          </c:dPt>
          <c:dPt>
            <c:idx val="1"/>
            <c:invertIfNegative val="0"/>
            <c:bubble3D val="0"/>
            <c:spPr>
              <a:solidFill>
                <a:srgbClr val="66708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D5E-4DA7-ABDF-08DF1D49373A}"/>
              </c:ext>
            </c:extLst>
          </c:dPt>
          <c:dPt>
            <c:idx val="2"/>
            <c:invertIfNegative val="0"/>
            <c:bubble3D val="0"/>
            <c:spPr>
              <a:solidFill>
                <a:srgbClr val="2E7D3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D5E-4DA7-ABDF-08DF1D49373A}"/>
              </c:ext>
            </c:extLst>
          </c:dPt>
          <c:dPt>
            <c:idx val="3"/>
            <c:invertIfNegative val="0"/>
            <c:bubble3D val="0"/>
            <c:spPr>
              <a:solidFill>
                <a:srgbClr val="66708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D5E-4DA7-ABDF-08DF1D49373A}"/>
              </c:ext>
            </c:extLst>
          </c:dPt>
          <c:cat>
            <c:strRef>
              <c:f>Sheet1!$A$2:$A$5</c:f>
              <c:strCache>
                <c:ptCount val="4"/>
                <c:pt idx="0">
                  <c:v>Earthquakes
(M6+)</c:v>
                </c:pt>
                <c:pt idx="1">
                  <c:v>Volcanoes</c:v>
                </c:pt>
                <c:pt idx="2">
                  <c:v>Precipitation
(M-class)</c:v>
                </c:pt>
                <c:pt idx="3">
                  <c:v>Temperature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4.3999999999999997E-2</c:v>
                </c:pt>
                <c:pt idx="1">
                  <c:v>1.7999999999999999E-2</c:v>
                </c:pt>
                <c:pt idx="2">
                  <c:v>6.4000000000000001E-2</c:v>
                </c:pt>
                <c:pt idx="3">
                  <c:v>3.4000000000000002E-2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D5E-4DA7-ABDF-08DF1D4937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67085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.4999999999999997E-2"/>
          <c:min val="0"/>
        </c:scaling>
        <c:delete val="0"/>
        <c:axPos val="l"/>
        <c:majorGridlines>
          <c:spPr>
            <a:ln w="12700" cap="flat">
              <a:solidFill>
                <a:srgbClr val="D9E3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67085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1.4999999999999999E-2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All earthquakes</c:v>
                </c:pt>
              </c:strCache>
            </c:strRef>
          </c:tx>
          <c:spPr>
            <a:ln w="25400" cap="flat">
              <a:solidFill>
                <a:srgbClr val="1E88E5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E88E5"/>
              </a:solidFill>
              <a:ln w="9525" cap="flat">
                <a:solidFill>
                  <a:srgbClr val="1E88E5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-7.5659999999999998E-3</c:v>
                </c:pt>
                <c:pt idx="1">
                  <c:v>1.013E-3</c:v>
                </c:pt>
                <c:pt idx="2">
                  <c:v>-2.7532999999999998E-2</c:v>
                </c:pt>
                <c:pt idx="3">
                  <c:v>-2.5009E-2</c:v>
                </c:pt>
                <c:pt idx="4">
                  <c:v>-2.7660000000000001E-2</c:v>
                </c:pt>
                <c:pt idx="5">
                  <c:v>-2.7373999999999999E-2</c:v>
                </c:pt>
                <c:pt idx="6">
                  <c:v>-2.9669999999999998E-2</c:v>
                </c:pt>
                <c:pt idx="7">
                  <c:v>-3.8015E-2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3E1-46DE-B0C6-98DD5BB77C5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M6+ earthquakes</c:v>
                </c:pt>
              </c:strCache>
            </c:strRef>
          </c:tx>
          <c:spPr>
            <a:ln w="25400" cap="flat">
              <a:solidFill>
                <a:srgbClr val="F2994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2994A"/>
              </a:solidFill>
              <a:ln w="9525" cap="flat">
                <a:solidFill>
                  <a:srgbClr val="F2994A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-1.3193E-2</c:v>
                </c:pt>
                <c:pt idx="1">
                  <c:v>-2.8833000000000001E-2</c:v>
                </c:pt>
                <c:pt idx="2">
                  <c:v>-3.2722000000000001E-2</c:v>
                </c:pt>
                <c:pt idx="3">
                  <c:v>-4.3993999999999998E-2</c:v>
                </c:pt>
                <c:pt idx="4">
                  <c:v>-3.3942E-2</c:v>
                </c:pt>
                <c:pt idx="5">
                  <c:v>-4.0094999999999999E-2</c:v>
                </c:pt>
                <c:pt idx="6">
                  <c:v>-1.8440000000000002E-2</c:v>
                </c:pt>
                <c:pt idx="7">
                  <c:v>-3.4561000000000001E-2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3E1-46DE-B0C6-98DD5BB77C5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67085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02"/>
          <c:min val="-0.06"/>
        </c:scaling>
        <c:delete val="0"/>
        <c:axPos val="l"/>
        <c:majorGridlines>
          <c:spPr>
            <a:ln w="12700" cap="flat">
              <a:solidFill>
                <a:srgbClr val="D9E3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67085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0.0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Aptos"/>
              <a:cs typeface="Aptos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Eruption count</c:v>
                </c:pt>
              </c:strCache>
            </c:strRef>
          </c:tx>
          <c:spPr>
            <a:ln w="25400" cap="flat">
              <a:solidFill>
                <a:srgbClr val="6A1B9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6A1B9A"/>
              </a:solidFill>
              <a:ln w="9525" cap="flat">
                <a:solidFill>
                  <a:srgbClr val="6A1B9A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-4.7670000000000004E-3</c:v>
                </c:pt>
                <c:pt idx="1">
                  <c:v>-3.728E-3</c:v>
                </c:pt>
                <c:pt idx="2">
                  <c:v>-1.2110000000000001E-3</c:v>
                </c:pt>
                <c:pt idx="3">
                  <c:v>-4.7520000000000001E-3</c:v>
                </c:pt>
                <c:pt idx="4">
                  <c:v>-1.6517E-2</c:v>
                </c:pt>
                <c:pt idx="5">
                  <c:v>-1.2392E-2</c:v>
                </c:pt>
                <c:pt idx="6">
                  <c:v>-7.2830000000000004E-3</c:v>
                </c:pt>
                <c:pt idx="7">
                  <c:v>-6.8009999999999998E-3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0A3-430A-BEEF-C4E372F7949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Eruption occurred</c:v>
                </c:pt>
              </c:strCache>
            </c:strRef>
          </c:tx>
          <c:spPr>
            <a:ln w="25400" cap="flat">
              <a:solidFill>
                <a:srgbClr val="667085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667085"/>
              </a:solidFill>
              <a:ln w="9525" cap="flat">
                <a:solidFill>
                  <a:srgbClr val="667085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-3.663E-3</c:v>
                </c:pt>
                <c:pt idx="1">
                  <c:v>-3.65E-3</c:v>
                </c:pt>
                <c:pt idx="2">
                  <c:v>-3.715E-3</c:v>
                </c:pt>
                <c:pt idx="3">
                  <c:v>-5.3400000000000001E-3</c:v>
                </c:pt>
                <c:pt idx="4">
                  <c:v>-1.5386E-2</c:v>
                </c:pt>
                <c:pt idx="5">
                  <c:v>-1.4812000000000001E-2</c:v>
                </c:pt>
                <c:pt idx="6">
                  <c:v>-5.8609999999999999E-3</c:v>
                </c:pt>
                <c:pt idx="7">
                  <c:v>-3.6480000000000002E-3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0A3-430A-BEEF-C4E372F794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67085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02"/>
          <c:min val="-0.03"/>
        </c:scaling>
        <c:delete val="0"/>
        <c:axPos val="l"/>
        <c:majorGridlines>
          <c:spPr>
            <a:ln w="12700" cap="flat">
              <a:solidFill>
                <a:srgbClr val="D9E3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67085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0.01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Aptos"/>
              <a:cs typeface="Aptos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Flare count</c:v>
                </c:pt>
              </c:strCache>
            </c:strRef>
          </c:tx>
          <c:spPr>
            <a:ln w="25400" cap="flat">
              <a:solidFill>
                <a:srgbClr val="2E7D3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32"/>
              </a:solidFill>
              <a:ln w="9525" cap="flat">
                <a:solidFill>
                  <a:srgbClr val="2E7D32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2.9551999999999998E-2</c:v>
                </c:pt>
                <c:pt idx="1">
                  <c:v>3.7714999999999999E-2</c:v>
                </c:pt>
                <c:pt idx="2">
                  <c:v>3.8879999999999998E-2</c:v>
                </c:pt>
                <c:pt idx="3">
                  <c:v>4.2584999999999998E-2</c:v>
                </c:pt>
                <c:pt idx="4">
                  <c:v>3.5096000000000002E-2</c:v>
                </c:pt>
                <c:pt idx="5">
                  <c:v>3.3097000000000001E-2</c:v>
                </c:pt>
                <c:pt idx="6">
                  <c:v>4.6696000000000001E-2</c:v>
                </c:pt>
                <c:pt idx="7">
                  <c:v>5.7563000000000003E-2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670-494D-83BB-F34A06ACEB4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M-class count</c:v>
                </c:pt>
              </c:strCache>
            </c:strRef>
          </c:tx>
          <c:spPr>
            <a:ln w="25400" cap="flat">
              <a:solidFill>
                <a:srgbClr val="F2994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2994A"/>
              </a:solidFill>
              <a:ln w="9525" cap="flat">
                <a:solidFill>
                  <a:srgbClr val="F2994A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2.6779000000000001E-2</c:v>
                </c:pt>
                <c:pt idx="1">
                  <c:v>3.2041E-2</c:v>
                </c:pt>
                <c:pt idx="2">
                  <c:v>3.2074999999999999E-2</c:v>
                </c:pt>
                <c:pt idx="3">
                  <c:v>4.6994000000000001E-2</c:v>
                </c:pt>
                <c:pt idx="4">
                  <c:v>3.6559000000000001E-2</c:v>
                </c:pt>
                <c:pt idx="5">
                  <c:v>3.3195000000000002E-2</c:v>
                </c:pt>
                <c:pt idx="6">
                  <c:v>4.9884999999999999E-2</c:v>
                </c:pt>
                <c:pt idx="7">
                  <c:v>6.3654000000000002E-2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670-494D-83BB-F34A06ACEB4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Flare energy proxy</c:v>
                </c:pt>
              </c:strCache>
            </c:strRef>
          </c:tx>
          <c:spPr>
            <a:ln w="25400" cap="flat">
              <a:solidFill>
                <a:srgbClr val="1E88E5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E88E5"/>
              </a:solidFill>
              <a:ln w="9525" cap="flat">
                <a:solidFill>
                  <a:srgbClr val="1E88E5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2.4652E-2</c:v>
                </c:pt>
                <c:pt idx="1">
                  <c:v>1.1494000000000001E-2</c:v>
                </c:pt>
                <c:pt idx="2">
                  <c:v>2.1478000000000001E-2</c:v>
                </c:pt>
                <c:pt idx="3">
                  <c:v>2.1728999999999998E-2</c:v>
                </c:pt>
                <c:pt idx="4">
                  <c:v>2.5722999999999999E-2</c:v>
                </c:pt>
                <c:pt idx="5">
                  <c:v>2.5307E-2</c:v>
                </c:pt>
                <c:pt idx="6">
                  <c:v>3.8355E-2</c:v>
                </c:pt>
                <c:pt idx="7">
                  <c:v>3.6255999999999997E-2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670-494D-83BB-F34A06ACEB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67085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08"/>
          <c:min val="0"/>
        </c:scaling>
        <c:delete val="0"/>
        <c:axPos val="l"/>
        <c:majorGridlines>
          <c:spPr>
            <a:ln w="12700" cap="flat">
              <a:solidFill>
                <a:srgbClr val="D9E3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67085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0.0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Aptos"/>
              <a:cs typeface="Aptos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Best |r|</c:v>
                </c:pt>
              </c:strCache>
            </c:strRef>
          </c:tx>
          <c:spPr>
            <a:solidFill>
              <a:srgbClr val="2E7D32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Flare
count</c:v>
                </c:pt>
                <c:pt idx="1">
                  <c:v>M-class
count</c:v>
                </c:pt>
                <c:pt idx="2">
                  <c:v>Energy
proxy</c:v>
                </c:pt>
                <c:pt idx="3">
                  <c:v>X-class
count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5.7599999999999998E-2</c:v>
                </c:pt>
                <c:pt idx="1">
                  <c:v>6.3700000000000007E-2</c:v>
                </c:pt>
                <c:pt idx="2">
                  <c:v>3.8399999999999997E-2</c:v>
                </c:pt>
                <c:pt idx="3">
                  <c:v>2.86E-2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F13-4E0B-A0F3-E4BA03BC2B9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67085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.4999999999999997E-2"/>
          <c:min val="0"/>
        </c:scaling>
        <c:delete val="0"/>
        <c:axPos val="l"/>
        <c:majorGridlines>
          <c:spPr>
            <a:ln w="12700" cap="flat">
              <a:solidFill>
                <a:srgbClr val="D9E3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67085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1.4999999999999999E-2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Flare count</c:v>
                </c:pt>
              </c:strCache>
            </c:strRef>
          </c:tx>
          <c:spPr>
            <a:ln w="25400" cap="flat">
              <a:solidFill>
                <a:srgbClr val="1E88E5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E88E5"/>
              </a:solidFill>
              <a:ln w="9525" cap="flat">
                <a:solidFill>
                  <a:srgbClr val="1E88E5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-2.2433000000000002E-2</c:v>
                </c:pt>
                <c:pt idx="1">
                  <c:v>-2.6301999999999999E-2</c:v>
                </c:pt>
                <c:pt idx="2">
                  <c:v>-2.4282999999999999E-2</c:v>
                </c:pt>
                <c:pt idx="3">
                  <c:v>-1.6441999999999998E-2</c:v>
                </c:pt>
                <c:pt idx="4">
                  <c:v>-1.1825E-2</c:v>
                </c:pt>
                <c:pt idx="5">
                  <c:v>-3.5130000000000001E-3</c:v>
                </c:pt>
                <c:pt idx="6">
                  <c:v>1.7E-5</c:v>
                </c:pt>
                <c:pt idx="7">
                  <c:v>3.5239999999999998E-3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448-4ED7-8981-5E93FF21572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M-class count</c:v>
                </c:pt>
              </c:strCache>
            </c:strRef>
          </c:tx>
          <c:spPr>
            <a:ln w="25400" cap="flat">
              <a:solidFill>
                <a:srgbClr val="F2994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2994A"/>
              </a:solidFill>
              <a:ln w="9525" cap="flat">
                <a:solidFill>
                  <a:srgbClr val="F2994A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-3.4223000000000003E-2</c:v>
                </c:pt>
                <c:pt idx="1">
                  <c:v>-3.1295999999999997E-2</c:v>
                </c:pt>
                <c:pt idx="2">
                  <c:v>-2.5760000000000002E-2</c:v>
                </c:pt>
                <c:pt idx="3">
                  <c:v>-1.4015E-2</c:v>
                </c:pt>
                <c:pt idx="4">
                  <c:v>-6.2310000000000004E-3</c:v>
                </c:pt>
                <c:pt idx="5">
                  <c:v>-1.0640000000000001E-3</c:v>
                </c:pt>
                <c:pt idx="6">
                  <c:v>3.777E-3</c:v>
                </c:pt>
                <c:pt idx="7">
                  <c:v>3.0249999999999999E-3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448-4ED7-8981-5E93FF2157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67085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02"/>
          <c:min val="-0.05"/>
        </c:scaling>
        <c:delete val="0"/>
        <c:axPos val="l"/>
        <c:majorGridlines>
          <c:spPr>
            <a:ln w="12700" cap="flat">
              <a:solidFill>
                <a:srgbClr val="D9E3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67085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0.01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Aptos"/>
              <a:cs typeface="Aptos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40314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30 seconds. Introduce the research question and preview the key finding: only precipitation had a statistically robust short-term association.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55 seconds. Explain that this is an exploratory time-lag analysis, not a causal proof. Emphasize the same framework across all four phenomena.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55 seconds. Use this overview to orient the audience before diving into each result. The bar chart is effect size; the table is statistical robustness.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60 seconds. Highlight that the M6+ line has a small dip around 3–5 days, but it is negative and fails FDR correction.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45 seconds. The volcano result is the cleanest null result: tiny correlations, large adjusted p-values, no lag shape.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90 seconds. This is the centerpiece. Explain anomaly adjustment, the 6–7 day cluster, and why the effect is small despite significance.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55 seconds. Explain that frequency-based measures showed stronger results than energy/X-class measures, so the physical mechanism is not straightforward.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45 seconds. Point out that the temperature data ended earlier than the other datasets and still found tiny, nonsignificant correlations.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70 seconds. This is the synthesis slide. Emphasize precise language: evidence detected or not detected, not proof of impossibility or causation.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55 seconds. Close by reiterating the nuanced conclusion and how the project demonstrates sound data analytics practice.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0936" y="777240"/>
            <a:ext cx="107533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Do Solar Flares Influence Earthly Phenomena?</a:t>
            </a:r>
            <a:endParaRPr lang="en-US" sz="3400" b="1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713232" y="1874520"/>
            <a:ext cx="9875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8D6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Exploratory lag analysis across earthquakes, volcanic eruptions, precipitation, and temperature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2514600"/>
            <a:ext cx="3931920" cy="0"/>
          </a:xfrm>
          <a:prstGeom prst="line">
            <a:avLst/>
          </a:prstGeom>
          <a:noFill/>
          <a:ln w="38100">
            <a:solidFill>
              <a:srgbClr val="00A6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77240" y="5828647"/>
            <a:ext cx="347472" cy="316121"/>
          </a:xfrm>
          <a:prstGeom prst="rect">
            <a:avLst/>
          </a:prstGeom>
          <a:solidFill>
            <a:srgbClr val="667085"/>
          </a:solidFill>
          <a:ln w="12700">
            <a:solidFill>
              <a:srgbClr val="667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30936" y="625449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BD0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Quakes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737360" y="6015446"/>
            <a:ext cx="347472" cy="129322"/>
          </a:xfrm>
          <a:prstGeom prst="rect">
            <a:avLst/>
          </a:prstGeom>
          <a:solidFill>
            <a:srgbClr val="667085"/>
          </a:solidFill>
          <a:ln w="12700">
            <a:solidFill>
              <a:srgbClr val="667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591056" y="625449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BD0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Volcanoes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697480" y="5684955"/>
            <a:ext cx="347472" cy="459813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551176" y="625449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BD0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Precip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657600" y="5900493"/>
            <a:ext cx="347472" cy="244275"/>
          </a:xfrm>
          <a:prstGeom prst="rect">
            <a:avLst/>
          </a:prstGeom>
          <a:solidFill>
            <a:srgbClr val="667085"/>
          </a:solidFill>
          <a:ln w="12700">
            <a:solidFill>
              <a:srgbClr val="667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511296" y="625449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BD0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</a:t>
            </a:r>
            <a:endParaRPr lang="en-US" sz="75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D667C6C-D83C-F0F1-852B-18FD02B13969}"/>
              </a:ext>
            </a:extLst>
          </p:cNvPr>
          <p:cNvSpPr txBox="1"/>
          <p:nvPr/>
        </p:nvSpPr>
        <p:spPr>
          <a:xfrm>
            <a:off x="830204" y="3300710"/>
            <a:ext cx="44294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Taggart Gruen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09EB527-755C-FB04-BD87-ADC6EC117917}"/>
              </a:ext>
            </a:extLst>
          </p:cNvPr>
          <p:cNvSpPr txBox="1"/>
          <p:nvPr/>
        </p:nvSpPr>
        <p:spPr>
          <a:xfrm>
            <a:off x="852276" y="3720822"/>
            <a:ext cx="28270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Nashville Software School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Analysis design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822960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Daily solar flare activity was aligned with daily Earth-system outcomes and tested at short time lags.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5240">
            <a:solidFill>
              <a:srgbClr val="E8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384280" y="649224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792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66928" y="1828800"/>
            <a:ext cx="18745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76656" y="195681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Solar flare data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76656" y="22860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Count, M/X-class counts, estimated flux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87168" y="2121408"/>
            <a:ext cx="256032" cy="384048"/>
          </a:xfrm>
          <a:prstGeom prst="chevron">
            <a:avLst/>
          </a:prstGeom>
          <a:solidFill>
            <a:srgbClr val="00A6D6"/>
          </a:solidFill>
          <a:ln w="12700">
            <a:solidFill>
              <a:srgbClr val="00A6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807208" y="1828800"/>
            <a:ext cx="18745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916936" y="195681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Daily alignment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16936" y="22860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 calendar, 2016–2025 window where available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727448" y="2121408"/>
            <a:ext cx="256032" cy="384048"/>
          </a:xfrm>
          <a:prstGeom prst="chevron">
            <a:avLst/>
          </a:prstGeom>
          <a:solidFill>
            <a:srgbClr val="00A6D6"/>
          </a:solidFill>
          <a:ln w="12700">
            <a:solidFill>
              <a:srgbClr val="00A6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047488" y="1828800"/>
            <a:ext cx="18745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157216" y="195681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Lag tests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157216" y="22860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0–7 days after solar activity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967728" y="2121408"/>
            <a:ext cx="256032" cy="384048"/>
          </a:xfrm>
          <a:prstGeom prst="chevron">
            <a:avLst/>
          </a:prstGeom>
          <a:solidFill>
            <a:srgbClr val="00A6D6"/>
          </a:solidFill>
          <a:ln w="12700">
            <a:solidFill>
              <a:srgbClr val="00A6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287768" y="1828800"/>
            <a:ext cx="18745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397496" y="195681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Significance check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97496" y="22860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Pearson, Spearman, FDR correction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9208008" y="2121408"/>
            <a:ext cx="256032" cy="384048"/>
          </a:xfrm>
          <a:prstGeom prst="chevron">
            <a:avLst/>
          </a:prstGeom>
          <a:solidFill>
            <a:srgbClr val="00A6D6"/>
          </a:solidFill>
          <a:ln w="12700">
            <a:solidFill>
              <a:srgbClr val="00A6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528048" y="1828800"/>
            <a:ext cx="18745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637776" y="195681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637776" y="22860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Effect size first; correlation ≠ causation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822960" y="3794760"/>
            <a:ext cx="32918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DFE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22960" y="3794760"/>
            <a:ext cx="73152" cy="141732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024128" y="395935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Solar measures tested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24128" y="4306824"/>
            <a:ext cx="29718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Total flare count</a:t>
            </a:r>
            <a:endParaRPr lang="en-US" sz="1070" dirty="0"/>
          </a:p>
          <a:p>
            <a:pPr marL="0" indent="0">
              <a:buNone/>
            </a:pPr>
            <a:r>
              <a:rPr lang="en-US" sz="10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Estimated flare energy proxy</a:t>
            </a:r>
            <a:endParaRPr lang="en-US" sz="1070" dirty="0"/>
          </a:p>
          <a:p>
            <a:pPr marL="0" indent="0">
              <a:buNone/>
            </a:pPr>
            <a:r>
              <a:rPr lang="en-US" sz="10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M-class flare count</a:t>
            </a:r>
            <a:endParaRPr lang="en-US" sz="1070" dirty="0"/>
          </a:p>
          <a:p>
            <a:pPr marL="0" indent="0">
              <a:buNone/>
            </a:pPr>
            <a:r>
              <a:rPr lang="en-US" sz="10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X-class flare count</a:t>
            </a:r>
            <a:endParaRPr lang="en-US" sz="1070" dirty="0"/>
          </a:p>
        </p:txBody>
      </p:sp>
      <p:sp>
        <p:nvSpPr>
          <p:cNvPr id="30" name="Shape 28"/>
          <p:cNvSpPr/>
          <p:nvPr/>
        </p:nvSpPr>
        <p:spPr>
          <a:xfrm>
            <a:off x="4434840" y="3794760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DFE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434840" y="3794760"/>
            <a:ext cx="73152" cy="14173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636008" y="395935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Earth outcomes tested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636008" y="4306824"/>
            <a:ext cx="33375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Earthquake counts and M6+ earthquakes</a:t>
            </a:r>
            <a:endParaRPr lang="en-US" sz="1070" dirty="0"/>
          </a:p>
          <a:p>
            <a:pPr marL="0" indent="0">
              <a:buNone/>
            </a:pPr>
            <a:r>
              <a:rPr lang="en-US" sz="10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Volcanic eruption count and occurrence</a:t>
            </a:r>
            <a:endParaRPr lang="en-US" sz="1070" dirty="0"/>
          </a:p>
          <a:p>
            <a:pPr marL="0" indent="0">
              <a:buNone/>
            </a:pPr>
            <a:r>
              <a:rPr lang="en-US" sz="10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Global precipitation anomaly</a:t>
            </a:r>
            <a:endParaRPr lang="en-US" sz="1070" dirty="0"/>
          </a:p>
          <a:p>
            <a:pPr marL="0" indent="0">
              <a:buNone/>
            </a:pPr>
            <a:r>
              <a:rPr lang="en-US" sz="10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Global temperature anomaly</a:t>
            </a:r>
            <a:endParaRPr lang="en-US" sz="1070" dirty="0"/>
          </a:p>
        </p:txBody>
      </p:sp>
      <p:sp>
        <p:nvSpPr>
          <p:cNvPr id="34" name="Shape 32"/>
          <p:cNvSpPr/>
          <p:nvPr/>
        </p:nvSpPr>
        <p:spPr>
          <a:xfrm>
            <a:off x="8412480" y="3794760"/>
            <a:ext cx="29718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DFE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8412480" y="3794760"/>
            <a:ext cx="73152" cy="1417320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613648" y="39593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Statistical safeguard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613648" y="4306824"/>
            <a:ext cx="26517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Because many lags and variables were tested, false-discovery-rate correction was used to reduce false positives.</a:t>
            </a:r>
            <a:endParaRPr lang="en-US" sz="1070" dirty="0"/>
          </a:p>
        </p:txBody>
      </p:sp>
      <p:sp>
        <p:nvSpPr>
          <p:cNvPr id="38" name="Text 36"/>
          <p:cNvSpPr/>
          <p:nvPr/>
        </p:nvSpPr>
        <p:spPr>
          <a:xfrm>
            <a:off x="502920" y="6245352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98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datasets used in project: NASA DONKI solar flares, USGS earthquakes, Smithsonian eruption data, NASA GPM precipitation, Berkeley Earth temperature anomaly.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Findings at a glance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822960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strongest detected relationship was precipitation; the other systems were weak or nonsignificant.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5240">
            <a:solidFill>
              <a:srgbClr val="E8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384280" y="649224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792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548640" y="1508760"/>
          <a:ext cx="676656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731520" y="1207008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Strongest absolute Pearson correlation by phenomenon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543800" y="1417320"/>
            <a:ext cx="1670609" cy="402336"/>
          </a:xfrm>
          <a:prstGeom prst="rect">
            <a:avLst/>
          </a:prstGeom>
          <a:solidFill>
            <a:srgbClr val="0B1F33"/>
          </a:solidFill>
          <a:ln w="5080">
            <a:solidFill>
              <a:srgbClr val="D7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589520" y="1472184"/>
            <a:ext cx="157916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Phenomenon</a:t>
            </a:r>
            <a:endParaRPr lang="en-US" sz="920" dirty="0"/>
          </a:p>
        </p:txBody>
      </p:sp>
      <p:sp>
        <p:nvSpPr>
          <p:cNvPr id="11" name="Shape 8"/>
          <p:cNvSpPr/>
          <p:nvPr/>
        </p:nvSpPr>
        <p:spPr>
          <a:xfrm>
            <a:off x="9214409" y="1417320"/>
            <a:ext cx="875081" cy="402336"/>
          </a:xfrm>
          <a:prstGeom prst="rect">
            <a:avLst/>
          </a:prstGeom>
          <a:solidFill>
            <a:srgbClr val="0B1F33"/>
          </a:solidFill>
          <a:ln w="5080">
            <a:solidFill>
              <a:srgbClr val="D7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9260129" y="1472184"/>
            <a:ext cx="78364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FDR p</a:t>
            </a:r>
            <a:endParaRPr lang="en-US" sz="920" dirty="0"/>
          </a:p>
        </p:txBody>
      </p:sp>
      <p:sp>
        <p:nvSpPr>
          <p:cNvPr id="13" name="Shape 10"/>
          <p:cNvSpPr/>
          <p:nvPr/>
        </p:nvSpPr>
        <p:spPr>
          <a:xfrm>
            <a:off x="10089490" y="1417320"/>
            <a:ext cx="1431950" cy="402336"/>
          </a:xfrm>
          <a:prstGeom prst="rect">
            <a:avLst/>
          </a:prstGeom>
          <a:solidFill>
            <a:srgbClr val="0B1F33"/>
          </a:solidFill>
          <a:ln w="5080">
            <a:solidFill>
              <a:srgbClr val="D7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135210" y="1472184"/>
            <a:ext cx="13405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Verdict</a:t>
            </a:r>
            <a:endParaRPr lang="en-US" sz="920" dirty="0"/>
          </a:p>
        </p:txBody>
      </p:sp>
      <p:sp>
        <p:nvSpPr>
          <p:cNvPr id="15" name="Shape 12"/>
          <p:cNvSpPr/>
          <p:nvPr/>
        </p:nvSpPr>
        <p:spPr>
          <a:xfrm>
            <a:off x="7543800" y="1819656"/>
            <a:ext cx="1670609" cy="402336"/>
          </a:xfrm>
          <a:prstGeom prst="rect">
            <a:avLst/>
          </a:prstGeom>
          <a:solidFill>
            <a:srgbClr val="FFFFFF"/>
          </a:solidFill>
          <a:ln w="5080">
            <a:solidFill>
              <a:srgbClr val="D7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589520" y="1874520"/>
            <a:ext cx="157916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Earthquakes</a:t>
            </a:r>
            <a:endParaRPr lang="en-US" sz="920" dirty="0"/>
          </a:p>
        </p:txBody>
      </p:sp>
      <p:sp>
        <p:nvSpPr>
          <p:cNvPr id="17" name="Shape 14"/>
          <p:cNvSpPr/>
          <p:nvPr/>
        </p:nvSpPr>
        <p:spPr>
          <a:xfrm>
            <a:off x="9214409" y="1819656"/>
            <a:ext cx="875081" cy="402336"/>
          </a:xfrm>
          <a:prstGeom prst="rect">
            <a:avLst/>
          </a:prstGeom>
          <a:solidFill>
            <a:srgbClr val="FFFFFF"/>
          </a:solidFill>
          <a:ln w="5080">
            <a:solidFill>
              <a:srgbClr val="D7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9260129" y="1874520"/>
            <a:ext cx="78364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0.0618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10089490" y="1819656"/>
            <a:ext cx="1431950" cy="402336"/>
          </a:xfrm>
          <a:prstGeom prst="rect">
            <a:avLst/>
          </a:prstGeom>
          <a:solidFill>
            <a:srgbClr val="FFFFFF"/>
          </a:solidFill>
          <a:ln w="5080">
            <a:solidFill>
              <a:srgbClr val="D7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10135210" y="1874520"/>
            <a:ext cx="13405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robust</a:t>
            </a:r>
            <a:endParaRPr lang="en-US" sz="920" dirty="0"/>
          </a:p>
        </p:txBody>
      </p:sp>
      <p:sp>
        <p:nvSpPr>
          <p:cNvPr id="21" name="Shape 18"/>
          <p:cNvSpPr/>
          <p:nvPr/>
        </p:nvSpPr>
        <p:spPr>
          <a:xfrm>
            <a:off x="7543800" y="2221992"/>
            <a:ext cx="1670609" cy="402336"/>
          </a:xfrm>
          <a:prstGeom prst="rect">
            <a:avLst/>
          </a:prstGeom>
          <a:solidFill>
            <a:srgbClr val="F8FAFD"/>
          </a:solidFill>
          <a:ln w="5080">
            <a:solidFill>
              <a:srgbClr val="D7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7589520" y="2276856"/>
            <a:ext cx="157916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Volcanoes</a:t>
            </a:r>
            <a:endParaRPr lang="en-US" sz="920" dirty="0"/>
          </a:p>
        </p:txBody>
      </p:sp>
      <p:sp>
        <p:nvSpPr>
          <p:cNvPr id="23" name="Shape 20"/>
          <p:cNvSpPr/>
          <p:nvPr/>
        </p:nvSpPr>
        <p:spPr>
          <a:xfrm>
            <a:off x="9214409" y="2221992"/>
            <a:ext cx="875081" cy="402336"/>
          </a:xfrm>
          <a:prstGeom prst="rect">
            <a:avLst/>
          </a:prstGeom>
          <a:solidFill>
            <a:srgbClr val="F8FAFD"/>
          </a:solidFill>
          <a:ln w="5080">
            <a:solidFill>
              <a:srgbClr val="D7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9260129" y="2276856"/>
            <a:ext cx="78364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&gt;0.70</a:t>
            </a:r>
            <a:endParaRPr lang="en-US" sz="920" dirty="0"/>
          </a:p>
        </p:txBody>
      </p:sp>
      <p:sp>
        <p:nvSpPr>
          <p:cNvPr id="25" name="Shape 22"/>
          <p:cNvSpPr/>
          <p:nvPr/>
        </p:nvSpPr>
        <p:spPr>
          <a:xfrm>
            <a:off x="10089490" y="2221992"/>
            <a:ext cx="1431950" cy="402336"/>
          </a:xfrm>
          <a:prstGeom prst="rect">
            <a:avLst/>
          </a:prstGeom>
          <a:solidFill>
            <a:srgbClr val="F8FAFD"/>
          </a:solidFill>
          <a:ln w="5080">
            <a:solidFill>
              <a:srgbClr val="D7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10135210" y="2276856"/>
            <a:ext cx="13405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signal</a:t>
            </a:r>
            <a:endParaRPr lang="en-US" sz="920" dirty="0"/>
          </a:p>
        </p:txBody>
      </p:sp>
      <p:sp>
        <p:nvSpPr>
          <p:cNvPr id="27" name="Shape 24"/>
          <p:cNvSpPr/>
          <p:nvPr/>
        </p:nvSpPr>
        <p:spPr>
          <a:xfrm>
            <a:off x="7543800" y="2624328"/>
            <a:ext cx="1670609" cy="402336"/>
          </a:xfrm>
          <a:prstGeom prst="rect">
            <a:avLst/>
          </a:prstGeom>
          <a:solidFill>
            <a:srgbClr val="FFFFFF"/>
          </a:solidFill>
          <a:ln w="5080">
            <a:solidFill>
              <a:srgbClr val="D7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7589520" y="2679192"/>
            <a:ext cx="157916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Precipitation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9214409" y="2624328"/>
            <a:ext cx="875081" cy="402336"/>
          </a:xfrm>
          <a:prstGeom prst="rect">
            <a:avLst/>
          </a:prstGeom>
          <a:solidFill>
            <a:srgbClr val="FFFFFF"/>
          </a:solidFill>
          <a:ln w="5080">
            <a:solidFill>
              <a:srgbClr val="D7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9260129" y="2679192"/>
            <a:ext cx="78364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0.0012</a:t>
            </a:r>
            <a:endParaRPr lang="en-US" sz="920" dirty="0"/>
          </a:p>
        </p:txBody>
      </p:sp>
      <p:sp>
        <p:nvSpPr>
          <p:cNvPr id="31" name="Shape 28"/>
          <p:cNvSpPr/>
          <p:nvPr/>
        </p:nvSpPr>
        <p:spPr>
          <a:xfrm>
            <a:off x="10089490" y="2624328"/>
            <a:ext cx="1431950" cy="402336"/>
          </a:xfrm>
          <a:prstGeom prst="rect">
            <a:avLst/>
          </a:prstGeom>
          <a:solidFill>
            <a:srgbClr val="FFFFFF"/>
          </a:solidFill>
          <a:ln w="5080">
            <a:solidFill>
              <a:srgbClr val="D7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10135210" y="2679192"/>
            <a:ext cx="13405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Significant</a:t>
            </a:r>
            <a:endParaRPr lang="en-US" sz="920" dirty="0"/>
          </a:p>
        </p:txBody>
      </p:sp>
      <p:sp>
        <p:nvSpPr>
          <p:cNvPr id="33" name="Shape 30"/>
          <p:cNvSpPr/>
          <p:nvPr/>
        </p:nvSpPr>
        <p:spPr>
          <a:xfrm>
            <a:off x="7543800" y="3026664"/>
            <a:ext cx="1670609" cy="402336"/>
          </a:xfrm>
          <a:prstGeom prst="rect">
            <a:avLst/>
          </a:prstGeom>
          <a:solidFill>
            <a:srgbClr val="F8FAFD"/>
          </a:solidFill>
          <a:ln w="5080">
            <a:solidFill>
              <a:srgbClr val="D7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7589520" y="3081528"/>
            <a:ext cx="157916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Temperature</a:t>
            </a:r>
            <a:endParaRPr lang="en-US" sz="920" dirty="0"/>
          </a:p>
        </p:txBody>
      </p:sp>
      <p:sp>
        <p:nvSpPr>
          <p:cNvPr id="35" name="Shape 32"/>
          <p:cNvSpPr/>
          <p:nvPr/>
        </p:nvSpPr>
        <p:spPr>
          <a:xfrm>
            <a:off x="9214409" y="3026664"/>
            <a:ext cx="875081" cy="402336"/>
          </a:xfrm>
          <a:prstGeom prst="rect">
            <a:avLst/>
          </a:prstGeom>
          <a:solidFill>
            <a:srgbClr val="F8FAFD"/>
          </a:solidFill>
          <a:ln w="5080">
            <a:solidFill>
              <a:srgbClr val="D7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9260129" y="3081528"/>
            <a:ext cx="78364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0.5007</a:t>
            </a:r>
            <a:endParaRPr lang="en-US" sz="920" dirty="0"/>
          </a:p>
        </p:txBody>
      </p:sp>
      <p:sp>
        <p:nvSpPr>
          <p:cNvPr id="37" name="Shape 34"/>
          <p:cNvSpPr/>
          <p:nvPr/>
        </p:nvSpPr>
        <p:spPr>
          <a:xfrm>
            <a:off x="10089490" y="3026664"/>
            <a:ext cx="1431950" cy="402336"/>
          </a:xfrm>
          <a:prstGeom prst="rect">
            <a:avLst/>
          </a:prstGeom>
          <a:solidFill>
            <a:srgbClr val="F8FAFD"/>
          </a:solidFill>
          <a:ln w="5080">
            <a:solidFill>
              <a:srgbClr val="D7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10135210" y="3081528"/>
            <a:ext cx="13405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signal</a:t>
            </a:r>
            <a:endParaRPr lang="en-US" sz="920" dirty="0"/>
          </a:p>
        </p:txBody>
      </p:sp>
      <p:sp>
        <p:nvSpPr>
          <p:cNvPr id="39" name="Shape 36"/>
          <p:cNvSpPr/>
          <p:nvPr/>
        </p:nvSpPr>
        <p:spPr>
          <a:xfrm>
            <a:off x="7543800" y="3886200"/>
            <a:ext cx="39776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0160">
            <a:solidFill>
              <a:srgbClr val="DFE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7543800" y="3886200"/>
            <a:ext cx="73152" cy="13716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7744968" y="40507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 pattern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7744968" y="4398264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project did not find a broad “solar flares affect everything” pattern. Instead, three systems were effectively null, while precipitation had a small, statistically detectable association.</a:t>
            </a:r>
            <a:endParaRPr lang="en-US" sz="107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Earthquakes: weak signal, not robust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822960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 earthquakes showed nominal p-values, but none survived FDR correction at α = 0.05.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5240">
            <a:solidFill>
              <a:srgbClr val="E8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384280" y="649224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792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58368" y="12070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Pearson r by lag day</a:t>
            </a:r>
            <a:endParaRPr lang="en-US" sz="13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548640" y="1508760"/>
          <a:ext cx="67208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7543800" y="1417320"/>
            <a:ext cx="38404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0160">
            <a:solidFill>
              <a:srgbClr val="DFE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7543800" y="1417320"/>
            <a:ext cx="73152" cy="1600200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744968" y="158191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M6+ result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744968" y="1929384"/>
            <a:ext cx="35204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Lag 3 days</a:t>
            </a:r>
            <a:endParaRPr lang="en-US" sz="1070" dirty="0"/>
          </a:p>
          <a:p>
            <a:pPr marL="0" indent="0">
              <a:buNone/>
            </a:pPr>
            <a:r>
              <a:rPr lang="en-US" sz="10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Pearson r = −0.044</a:t>
            </a:r>
            <a:endParaRPr lang="en-US" sz="1070" dirty="0"/>
          </a:p>
          <a:p>
            <a:pPr marL="0" indent="0">
              <a:buNone/>
            </a:pPr>
            <a:r>
              <a:rPr lang="en-US" sz="10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p = 0.0079</a:t>
            </a:r>
            <a:endParaRPr lang="en-US" sz="1070" dirty="0"/>
          </a:p>
          <a:p>
            <a:pPr marL="0" indent="0">
              <a:buNone/>
            </a:pPr>
            <a:r>
              <a:rPr lang="en-US" sz="10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FDR p = 0.0618</a:t>
            </a:r>
            <a:endParaRPr lang="en-US" sz="1070" dirty="0"/>
          </a:p>
        </p:txBody>
      </p:sp>
      <p:sp>
        <p:nvSpPr>
          <p:cNvPr id="13" name="Shape 10"/>
          <p:cNvSpPr/>
          <p:nvPr/>
        </p:nvSpPr>
        <p:spPr>
          <a:xfrm>
            <a:off x="7543800" y="3337560"/>
            <a:ext cx="38404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DFE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7543800" y="3337560"/>
            <a:ext cx="73152" cy="1417320"/>
          </a:xfrm>
          <a:prstGeom prst="rect">
            <a:avLst/>
          </a:prstGeom>
          <a:solidFill>
            <a:srgbClr val="667085"/>
          </a:solidFill>
          <a:ln w="12700">
            <a:solidFill>
              <a:srgbClr val="667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744968" y="350215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it means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744968" y="3849624"/>
            <a:ext cx="35204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direction is negative and the effect size is tiny. This does not support the hypothesis that solar flare activity triggers global earthquakes.</a:t>
            </a:r>
            <a:endParaRPr lang="en-US" sz="1070" dirty="0"/>
          </a:p>
        </p:txBody>
      </p:sp>
      <p:sp>
        <p:nvSpPr>
          <p:cNvPr id="17" name="Text 14"/>
          <p:cNvSpPr/>
          <p:nvPr/>
        </p:nvSpPr>
        <p:spPr>
          <a:xfrm>
            <a:off x="7543800" y="51663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Conclusion: no robust short-term association with global earthquake activity.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Volcanic eruptions: no detectable relationship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822960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Both eruption count and eruption occurrence remained near zero at every lag.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5240">
            <a:solidFill>
              <a:srgbClr val="E8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384280" y="649224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792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58368" y="12070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Pearson r by lag day</a:t>
            </a:r>
            <a:endParaRPr lang="en-US" sz="13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548640" y="1508760"/>
          <a:ext cx="67208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7543800" y="1417320"/>
            <a:ext cx="38404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DFE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7543800" y="1417320"/>
            <a:ext cx="73152" cy="128016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744968" y="158191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 scale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744968" y="1929384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318 eruption events</a:t>
            </a:r>
            <a:endParaRPr lang="en-US" sz="1070" dirty="0"/>
          </a:p>
          <a:p>
            <a:pPr marL="0" indent="0">
              <a:buNone/>
            </a:pPr>
            <a:r>
              <a:rPr lang="en-US" sz="10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300 days with ≥1 eruption</a:t>
            </a:r>
            <a:endParaRPr lang="en-US" sz="1070" dirty="0"/>
          </a:p>
          <a:p>
            <a:pPr marL="0" indent="0">
              <a:buNone/>
            </a:pPr>
            <a:r>
              <a:rPr lang="en-US" sz="10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2016–2025 analysis window</a:t>
            </a:r>
            <a:endParaRPr lang="en-US" sz="1070" dirty="0"/>
          </a:p>
        </p:txBody>
      </p:sp>
      <p:sp>
        <p:nvSpPr>
          <p:cNvPr id="13" name="Shape 10"/>
          <p:cNvSpPr/>
          <p:nvPr/>
        </p:nvSpPr>
        <p:spPr>
          <a:xfrm>
            <a:off x="7543800" y="3035808"/>
            <a:ext cx="38404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0160">
            <a:solidFill>
              <a:srgbClr val="DFE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7543800" y="3035808"/>
            <a:ext cx="73152" cy="1371600"/>
          </a:xfrm>
          <a:prstGeom prst="rect">
            <a:avLst/>
          </a:prstGeom>
          <a:solidFill>
            <a:srgbClr val="667085"/>
          </a:solidFill>
          <a:ln w="12700">
            <a:solidFill>
              <a:srgbClr val="667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744968" y="320040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Strongest observed correlation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744968" y="3547872"/>
            <a:ext cx="3520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|r| ≈ 0.018</a:t>
            </a:r>
            <a:endParaRPr lang="en-US" sz="1070" dirty="0"/>
          </a:p>
          <a:p>
            <a:pPr marL="0" indent="0">
              <a:buNone/>
            </a:pPr>
            <a:r>
              <a:rPr lang="en-US" sz="10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FDR p values were far above 0.05</a:t>
            </a:r>
            <a:endParaRPr lang="en-US" sz="1070" dirty="0"/>
          </a:p>
          <a:p>
            <a:pPr marL="0" indent="0">
              <a:buNone/>
            </a:pPr>
            <a:r>
              <a:rPr lang="en-US" sz="10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coherent lag pattern appeared.</a:t>
            </a:r>
            <a:endParaRPr lang="en-US" sz="1070" dirty="0"/>
          </a:p>
        </p:txBody>
      </p:sp>
      <p:sp>
        <p:nvSpPr>
          <p:cNvPr id="17" name="Text 14"/>
          <p:cNvSpPr/>
          <p:nvPr/>
        </p:nvSpPr>
        <p:spPr>
          <a:xfrm>
            <a:off x="7543800" y="495604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Conclusion: no evidence for a short-term solar flare / volcanic eruption association.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Precipitation: small positive association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822960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was the one Earth-system outcome with statistically significant results after FDR correction.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5240">
            <a:solidFill>
              <a:srgbClr val="E8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6528816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8792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Solar flares vs. Earth phenomena • exploratory lag analysis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11384280" y="649224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792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58368" y="1207008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Precipitation anomaly: Pearson r by lag day</a:t>
            </a:r>
            <a:endParaRPr lang="en-US" sz="13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548640" y="1508760"/>
          <a:ext cx="67208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7543800" y="1325880"/>
            <a:ext cx="38862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0160">
            <a:solidFill>
              <a:srgbClr val="DFE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7543800" y="1325880"/>
            <a:ext cx="73152" cy="13258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744968" y="14904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Strongest flare-count result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744968" y="1837944"/>
            <a:ext cx="35661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Lag 7 days</a:t>
            </a:r>
            <a:endParaRPr lang="en-US" sz="1070" dirty="0"/>
          </a:p>
          <a:p>
            <a:pPr marL="0" indent="0">
              <a:buNone/>
            </a:pPr>
            <a:r>
              <a:rPr lang="en-US" sz="10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Pearson r = +0.0576</a:t>
            </a:r>
            <a:endParaRPr lang="en-US" sz="1070" dirty="0"/>
          </a:p>
          <a:p>
            <a:pPr marL="0" indent="0">
              <a:buNone/>
            </a:pPr>
            <a:r>
              <a:rPr lang="en-US" sz="10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FDR p = 0.0048</a:t>
            </a:r>
            <a:endParaRPr lang="en-US" sz="1070" dirty="0"/>
          </a:p>
        </p:txBody>
      </p:sp>
      <p:sp>
        <p:nvSpPr>
          <p:cNvPr id="13" name="Shape 10"/>
          <p:cNvSpPr/>
          <p:nvPr/>
        </p:nvSpPr>
        <p:spPr>
          <a:xfrm>
            <a:off x="7543800" y="2880360"/>
            <a:ext cx="38862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0160">
            <a:solidFill>
              <a:srgbClr val="DFE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7543800" y="2880360"/>
            <a:ext cx="73152" cy="1325880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744968" y="30449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Strongest M-class result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744968" y="3392424"/>
            <a:ext cx="35661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Lag 7 days</a:t>
            </a:r>
            <a:endParaRPr lang="en-US" sz="1070" dirty="0"/>
          </a:p>
          <a:p>
            <a:pPr marL="0" indent="0">
              <a:buNone/>
            </a:pPr>
            <a:r>
              <a:rPr lang="en-US" sz="10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Pearson r = +0.0637</a:t>
            </a:r>
            <a:endParaRPr lang="en-US" sz="1070" dirty="0"/>
          </a:p>
          <a:p>
            <a:pPr marL="0" indent="0">
              <a:buNone/>
            </a:pPr>
            <a:r>
              <a:rPr lang="en-US" sz="10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FDR p = 0.0012</a:t>
            </a:r>
            <a:endParaRPr lang="en-US" sz="1070" dirty="0"/>
          </a:p>
        </p:txBody>
      </p:sp>
      <p:sp>
        <p:nvSpPr>
          <p:cNvPr id="17" name="Shape 14"/>
          <p:cNvSpPr/>
          <p:nvPr/>
        </p:nvSpPr>
        <p:spPr>
          <a:xfrm>
            <a:off x="7543800" y="443484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DFE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7543800" y="4434840"/>
            <a:ext cx="73152" cy="1143000"/>
          </a:xfrm>
          <a:prstGeom prst="rect">
            <a:avLst/>
          </a:prstGeom>
          <a:solidFill>
            <a:srgbClr val="667085"/>
          </a:solidFill>
          <a:ln w="12700">
            <a:solidFill>
              <a:srgbClr val="667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7744968" y="45994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Careful wording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744968" y="4946904"/>
            <a:ext cx="35661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association is statistically detectable but small. It should be presented as exploratory—not causal.</a:t>
            </a:r>
            <a:endParaRPr lang="en-US" sz="107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Precipitation: interesting, but limited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822960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Significance survived correction, but effect size and time-series autocorrelation require caution.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5240">
            <a:solidFill>
              <a:srgbClr val="E8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6528816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8792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Solar flares vs. Earth phenomena • exploratory lag analysis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11384280" y="649224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792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8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640080" y="1417320"/>
          <a:ext cx="5394960" cy="3886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822960" y="1143000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Precipitation: strongest |r| by solar measure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629400" y="1417320"/>
            <a:ext cx="1938528" cy="402336"/>
          </a:xfrm>
          <a:prstGeom prst="rect">
            <a:avLst/>
          </a:prstGeom>
          <a:solidFill>
            <a:srgbClr val="0B1F33"/>
          </a:solidFill>
          <a:ln w="5080">
            <a:solidFill>
              <a:srgbClr val="D7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675120" y="1472184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8567928" y="1417320"/>
            <a:ext cx="1453896" cy="402336"/>
          </a:xfrm>
          <a:prstGeom prst="rect">
            <a:avLst/>
          </a:prstGeom>
          <a:solidFill>
            <a:srgbClr val="0B1F33"/>
          </a:solidFill>
          <a:ln w="5080">
            <a:solidFill>
              <a:srgbClr val="D7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613648" y="1472184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lag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10021824" y="1417320"/>
            <a:ext cx="1453896" cy="402336"/>
          </a:xfrm>
          <a:prstGeom prst="rect">
            <a:avLst/>
          </a:prstGeom>
          <a:solidFill>
            <a:srgbClr val="0B1F33"/>
          </a:solidFill>
          <a:ln w="5080">
            <a:solidFill>
              <a:srgbClr val="D7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067544" y="1472184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FDR p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629400" y="1819656"/>
            <a:ext cx="1938528" cy="402336"/>
          </a:xfrm>
          <a:prstGeom prst="rect">
            <a:avLst/>
          </a:prstGeom>
          <a:solidFill>
            <a:srgbClr val="FFFFFF"/>
          </a:solidFill>
          <a:ln w="5080">
            <a:solidFill>
              <a:srgbClr val="D7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675120" y="1874520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Flare count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8567928" y="1819656"/>
            <a:ext cx="1453896" cy="402336"/>
          </a:xfrm>
          <a:prstGeom prst="rect">
            <a:avLst/>
          </a:prstGeom>
          <a:solidFill>
            <a:srgbClr val="FFFFFF"/>
          </a:solidFill>
          <a:ln w="5080">
            <a:solidFill>
              <a:srgbClr val="D7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613648" y="1874520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days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10021824" y="1819656"/>
            <a:ext cx="1453896" cy="402336"/>
          </a:xfrm>
          <a:prstGeom prst="rect">
            <a:avLst/>
          </a:prstGeom>
          <a:solidFill>
            <a:srgbClr val="FFFFFF"/>
          </a:solidFill>
          <a:ln w="5080">
            <a:solidFill>
              <a:srgbClr val="D7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10067544" y="1874520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0.0048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629400" y="2221992"/>
            <a:ext cx="1938528" cy="402336"/>
          </a:xfrm>
          <a:prstGeom prst="rect">
            <a:avLst/>
          </a:prstGeom>
          <a:solidFill>
            <a:srgbClr val="F8FAFD"/>
          </a:solidFill>
          <a:ln w="5080">
            <a:solidFill>
              <a:srgbClr val="D7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675120" y="2276856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M-class count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8567928" y="2221992"/>
            <a:ext cx="1453896" cy="402336"/>
          </a:xfrm>
          <a:prstGeom prst="rect">
            <a:avLst/>
          </a:prstGeom>
          <a:solidFill>
            <a:srgbClr val="F8FAFD"/>
          </a:solidFill>
          <a:ln w="5080">
            <a:solidFill>
              <a:srgbClr val="D7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8613648" y="2276856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days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10021824" y="2221992"/>
            <a:ext cx="1453896" cy="402336"/>
          </a:xfrm>
          <a:prstGeom prst="rect">
            <a:avLst/>
          </a:prstGeom>
          <a:solidFill>
            <a:srgbClr val="F8FAFD"/>
          </a:solidFill>
          <a:ln w="5080">
            <a:solidFill>
              <a:srgbClr val="D7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10067544" y="2276856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0.0012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6629400" y="2624328"/>
            <a:ext cx="1938528" cy="402336"/>
          </a:xfrm>
          <a:prstGeom prst="rect">
            <a:avLst/>
          </a:prstGeom>
          <a:solidFill>
            <a:srgbClr val="FFFFFF"/>
          </a:solidFill>
          <a:ln w="5080">
            <a:solidFill>
              <a:srgbClr val="D7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6675120" y="2679192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Energy proxy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8567928" y="2624328"/>
            <a:ext cx="1453896" cy="402336"/>
          </a:xfrm>
          <a:prstGeom prst="rect">
            <a:avLst/>
          </a:prstGeom>
          <a:solidFill>
            <a:srgbClr val="FFFFFF"/>
          </a:solidFill>
          <a:ln w="5080">
            <a:solidFill>
              <a:srgbClr val="D7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8613648" y="2679192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days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10021824" y="2624328"/>
            <a:ext cx="1453896" cy="402336"/>
          </a:xfrm>
          <a:prstGeom prst="rect">
            <a:avLst/>
          </a:prstGeom>
          <a:solidFill>
            <a:srgbClr val="FFFFFF"/>
          </a:solidFill>
          <a:ln w="5080">
            <a:solidFill>
              <a:srgbClr val="D7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10067544" y="2679192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0.1227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6629400" y="3026664"/>
            <a:ext cx="1938528" cy="402336"/>
          </a:xfrm>
          <a:prstGeom prst="rect">
            <a:avLst/>
          </a:prstGeom>
          <a:solidFill>
            <a:srgbClr val="F8FAFD"/>
          </a:solidFill>
          <a:ln w="5080">
            <a:solidFill>
              <a:srgbClr val="D7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6675120" y="3081528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X-class count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8567928" y="3026664"/>
            <a:ext cx="1453896" cy="402336"/>
          </a:xfrm>
          <a:prstGeom prst="rect">
            <a:avLst/>
          </a:prstGeom>
          <a:solidFill>
            <a:srgbClr val="F8FAFD"/>
          </a:solidFill>
          <a:ln w="5080">
            <a:solidFill>
              <a:srgbClr val="D7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8613648" y="308152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days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10021824" y="3026664"/>
            <a:ext cx="1453896" cy="402336"/>
          </a:xfrm>
          <a:prstGeom prst="rect">
            <a:avLst/>
          </a:prstGeom>
          <a:solidFill>
            <a:srgbClr val="F8FAFD"/>
          </a:solidFill>
          <a:ln w="5080">
            <a:solidFill>
              <a:srgbClr val="D7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10067544" y="308152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0.4385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6629400" y="3794760"/>
            <a:ext cx="48463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DFE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6629400" y="3794760"/>
            <a:ext cx="73152" cy="1280160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6830568" y="395935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limitation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6830568" y="4306824"/>
            <a:ext cx="4526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Weather data are autocorrelated: adjacent days are not independent. FDR controls multiple tests, but not the full time-series structure.</a:t>
            </a:r>
            <a:endParaRPr lang="en-US" sz="1070" dirty="0"/>
          </a:p>
        </p:txBody>
      </p:sp>
      <p:sp>
        <p:nvSpPr>
          <p:cNvPr id="43" name="Shape 40"/>
          <p:cNvSpPr/>
          <p:nvPr/>
        </p:nvSpPr>
        <p:spPr>
          <a:xfrm>
            <a:off x="640080" y="5559552"/>
            <a:ext cx="108356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0160">
            <a:solidFill>
              <a:srgbClr val="DFE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1"/>
          <p:cNvSpPr/>
          <p:nvPr/>
        </p:nvSpPr>
        <p:spPr>
          <a:xfrm>
            <a:off x="640080" y="5559552"/>
            <a:ext cx="73152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841248" y="572414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statement</a:t>
            </a:r>
            <a:endParaRPr lang="en-US" sz="1300" dirty="0"/>
          </a:p>
        </p:txBody>
      </p:sp>
      <p:sp>
        <p:nvSpPr>
          <p:cNvPr id="46" name="Text 43"/>
          <p:cNvSpPr/>
          <p:nvPr/>
        </p:nvSpPr>
        <p:spPr>
          <a:xfrm>
            <a:off x="841248" y="6071616"/>
            <a:ext cx="105156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25000" lnSpcReduction="20000"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“A small positive association was detected between solar flare frequency and global precipitation anomalies several days later.”</a:t>
            </a:r>
            <a:endParaRPr lang="en-US" sz="107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Temperature: no short-term relationship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822960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None of the temperature tests approached statistical significance after correction.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5240">
            <a:solidFill>
              <a:srgbClr val="E8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384280" y="649224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792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58368" y="1207008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temperature anomaly: Pearson r by lag day</a:t>
            </a:r>
            <a:endParaRPr lang="en-US" sz="13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548640" y="1508760"/>
          <a:ext cx="67208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7543800" y="1417320"/>
            <a:ext cx="38404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0160">
            <a:solidFill>
              <a:srgbClr val="DFE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7543800" y="1417320"/>
            <a:ext cx="73152" cy="132588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744968" y="158191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Coverage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744968" y="1929384"/>
            <a:ext cx="35204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2,403 days</a:t>
            </a:r>
            <a:endParaRPr lang="en-US" sz="1070" dirty="0"/>
          </a:p>
          <a:p>
            <a:pPr marL="0" indent="0">
              <a:buNone/>
            </a:pPr>
            <a:r>
              <a:rPr lang="en-US" sz="10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2016-01-02 to 2022-07-31</a:t>
            </a:r>
            <a:endParaRPr lang="en-US" sz="1070" dirty="0"/>
          </a:p>
          <a:p>
            <a:pPr marL="0" indent="0">
              <a:buNone/>
            </a:pPr>
            <a:r>
              <a:rPr lang="en-US" sz="10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Temperature anomaly column used</a:t>
            </a:r>
            <a:endParaRPr lang="en-US" sz="1070" dirty="0"/>
          </a:p>
        </p:txBody>
      </p:sp>
      <p:sp>
        <p:nvSpPr>
          <p:cNvPr id="13" name="Shape 10"/>
          <p:cNvSpPr/>
          <p:nvPr/>
        </p:nvSpPr>
        <p:spPr>
          <a:xfrm>
            <a:off x="7543800" y="3017520"/>
            <a:ext cx="38404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0160">
            <a:solidFill>
              <a:srgbClr val="DFE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7543800" y="3017520"/>
            <a:ext cx="73152" cy="1325880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744968" y="318211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Strongest result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744968" y="3529584"/>
            <a:ext cx="35204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M-class count at lag 0</a:t>
            </a:r>
            <a:endParaRPr lang="en-US" sz="1070" dirty="0"/>
          </a:p>
          <a:p>
            <a:pPr marL="0" indent="0">
              <a:buNone/>
            </a:pPr>
            <a:r>
              <a:rPr lang="en-US" sz="10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Pearson r = −0.0342</a:t>
            </a:r>
            <a:endParaRPr lang="en-US" sz="1070" dirty="0"/>
          </a:p>
          <a:p>
            <a:pPr marL="0" indent="0">
              <a:buNone/>
            </a:pPr>
            <a:r>
              <a:rPr lang="en-US" sz="10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FDR p = 0.5007</a:t>
            </a:r>
            <a:endParaRPr lang="en-US" sz="1070" dirty="0"/>
          </a:p>
        </p:txBody>
      </p:sp>
      <p:sp>
        <p:nvSpPr>
          <p:cNvPr id="17" name="Text 14"/>
          <p:cNvSpPr/>
          <p:nvPr/>
        </p:nvSpPr>
        <p:spPr>
          <a:xfrm>
            <a:off x="7543800" y="4828032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Conclusion: no evidence of a detectable short-term solar flare / global temperature-anomaly relationship.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Integrated interpretation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822960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findings argue against a broad, simple short-term solar-flare effect across Earth systems.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5240">
            <a:solidFill>
              <a:srgbClr val="E8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6528816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8792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Solar flares vs. Earth phenomena • exploratory lag analysis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11384280" y="649224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792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85800" y="1417320"/>
            <a:ext cx="2414016" cy="466344"/>
          </a:xfrm>
          <a:prstGeom prst="rect">
            <a:avLst/>
          </a:prstGeom>
          <a:solidFill>
            <a:srgbClr val="0B1F33"/>
          </a:solidFill>
          <a:ln w="5080">
            <a:solidFill>
              <a:srgbClr val="D7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472184"/>
            <a:ext cx="232257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3099816" y="1417320"/>
            <a:ext cx="2852928" cy="466344"/>
          </a:xfrm>
          <a:prstGeom prst="rect">
            <a:avLst/>
          </a:prstGeom>
          <a:solidFill>
            <a:srgbClr val="0B1F33"/>
          </a:solidFill>
          <a:ln w="5080">
            <a:solidFill>
              <a:srgbClr val="D7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145536" y="1472184"/>
            <a:ext cx="276148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result</a:t>
            </a:r>
            <a:endParaRPr lang="en-US" sz="940" dirty="0"/>
          </a:p>
        </p:txBody>
      </p:sp>
      <p:sp>
        <p:nvSpPr>
          <p:cNvPr id="11" name="Shape 9"/>
          <p:cNvSpPr/>
          <p:nvPr/>
        </p:nvSpPr>
        <p:spPr>
          <a:xfrm>
            <a:off x="5952744" y="1417320"/>
            <a:ext cx="5705856" cy="466344"/>
          </a:xfrm>
          <a:prstGeom prst="rect">
            <a:avLst/>
          </a:prstGeom>
          <a:solidFill>
            <a:srgbClr val="0B1F33"/>
          </a:solidFill>
          <a:ln w="5080">
            <a:solidFill>
              <a:srgbClr val="D7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98464" y="1472184"/>
            <a:ext cx="56144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685800" y="1883664"/>
            <a:ext cx="2414016" cy="466344"/>
          </a:xfrm>
          <a:prstGeom prst="rect">
            <a:avLst/>
          </a:prstGeom>
          <a:solidFill>
            <a:srgbClr val="FFFFFF"/>
          </a:solidFill>
          <a:ln w="5080">
            <a:solidFill>
              <a:srgbClr val="D7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1938528"/>
            <a:ext cx="232257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Earthquakes</a:t>
            </a:r>
            <a:endParaRPr lang="en-US" sz="940" dirty="0"/>
          </a:p>
        </p:txBody>
      </p:sp>
      <p:sp>
        <p:nvSpPr>
          <p:cNvPr id="15" name="Shape 13"/>
          <p:cNvSpPr/>
          <p:nvPr/>
        </p:nvSpPr>
        <p:spPr>
          <a:xfrm>
            <a:off x="3099816" y="1883664"/>
            <a:ext cx="2852928" cy="466344"/>
          </a:xfrm>
          <a:prstGeom prst="rect">
            <a:avLst/>
          </a:prstGeom>
          <a:solidFill>
            <a:srgbClr val="FFFFFF"/>
          </a:solidFill>
          <a:ln w="5080">
            <a:solidFill>
              <a:srgbClr val="D7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145536" y="1938528"/>
            <a:ext cx="276148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M6+ r = −0.044; FDR p = 0.0618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5952744" y="1883664"/>
            <a:ext cx="5705856" cy="466344"/>
          </a:xfrm>
          <a:prstGeom prst="rect">
            <a:avLst/>
          </a:prstGeom>
          <a:solidFill>
            <a:srgbClr val="FFFFFF"/>
          </a:solidFill>
          <a:ln w="5080">
            <a:solidFill>
              <a:srgbClr val="D7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998464" y="1938528"/>
            <a:ext cx="56144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Weak negative exploratory signal; not robust</a:t>
            </a:r>
            <a:endParaRPr lang="en-US" sz="940" dirty="0"/>
          </a:p>
        </p:txBody>
      </p:sp>
      <p:sp>
        <p:nvSpPr>
          <p:cNvPr id="19" name="Shape 17"/>
          <p:cNvSpPr/>
          <p:nvPr/>
        </p:nvSpPr>
        <p:spPr>
          <a:xfrm>
            <a:off x="685800" y="2350008"/>
            <a:ext cx="2414016" cy="466344"/>
          </a:xfrm>
          <a:prstGeom prst="rect">
            <a:avLst/>
          </a:prstGeom>
          <a:solidFill>
            <a:srgbClr val="F8FAFD"/>
          </a:solidFill>
          <a:ln w="5080">
            <a:solidFill>
              <a:srgbClr val="D7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31520" y="2404872"/>
            <a:ext cx="232257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Volcanoes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3099816" y="2350008"/>
            <a:ext cx="2852928" cy="466344"/>
          </a:xfrm>
          <a:prstGeom prst="rect">
            <a:avLst/>
          </a:prstGeom>
          <a:solidFill>
            <a:srgbClr val="F8FAFD"/>
          </a:solidFill>
          <a:ln w="5080">
            <a:solidFill>
              <a:srgbClr val="D7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145536" y="2404872"/>
            <a:ext cx="276148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|r| ≈ 0.018; FDR &gt; 0.70</a:t>
            </a:r>
            <a:endParaRPr lang="en-US" sz="940" dirty="0"/>
          </a:p>
        </p:txBody>
      </p:sp>
      <p:sp>
        <p:nvSpPr>
          <p:cNvPr id="23" name="Shape 21"/>
          <p:cNvSpPr/>
          <p:nvPr/>
        </p:nvSpPr>
        <p:spPr>
          <a:xfrm>
            <a:off x="5952744" y="2350008"/>
            <a:ext cx="5705856" cy="466344"/>
          </a:xfrm>
          <a:prstGeom prst="rect">
            <a:avLst/>
          </a:prstGeom>
          <a:solidFill>
            <a:srgbClr val="F8FAFD"/>
          </a:solidFill>
          <a:ln w="5080">
            <a:solidFill>
              <a:srgbClr val="D7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998464" y="2404872"/>
            <a:ext cx="56144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 null result</a:t>
            </a:r>
            <a:endParaRPr lang="en-US" sz="940" dirty="0"/>
          </a:p>
        </p:txBody>
      </p:sp>
      <p:sp>
        <p:nvSpPr>
          <p:cNvPr id="25" name="Shape 23"/>
          <p:cNvSpPr/>
          <p:nvPr/>
        </p:nvSpPr>
        <p:spPr>
          <a:xfrm>
            <a:off x="685800" y="2816352"/>
            <a:ext cx="2414016" cy="466344"/>
          </a:xfrm>
          <a:prstGeom prst="rect">
            <a:avLst/>
          </a:prstGeom>
          <a:solidFill>
            <a:srgbClr val="FFFFFF"/>
          </a:solidFill>
          <a:ln w="5080">
            <a:solidFill>
              <a:srgbClr val="D7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31520" y="2871216"/>
            <a:ext cx="232257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Precipitation</a:t>
            </a:r>
            <a:endParaRPr lang="en-US" sz="940" dirty="0"/>
          </a:p>
        </p:txBody>
      </p:sp>
      <p:sp>
        <p:nvSpPr>
          <p:cNvPr id="27" name="Shape 25"/>
          <p:cNvSpPr/>
          <p:nvPr/>
        </p:nvSpPr>
        <p:spPr>
          <a:xfrm>
            <a:off x="3099816" y="2816352"/>
            <a:ext cx="2852928" cy="466344"/>
          </a:xfrm>
          <a:prstGeom prst="rect">
            <a:avLst/>
          </a:prstGeom>
          <a:solidFill>
            <a:srgbClr val="FFFFFF"/>
          </a:solidFill>
          <a:ln w="5080">
            <a:solidFill>
              <a:srgbClr val="D7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145536" y="2871216"/>
            <a:ext cx="276148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M-class r = +0.064; FDR p = 0.0012</a:t>
            </a:r>
            <a:endParaRPr lang="en-US" sz="940" dirty="0"/>
          </a:p>
        </p:txBody>
      </p:sp>
      <p:sp>
        <p:nvSpPr>
          <p:cNvPr id="29" name="Shape 27"/>
          <p:cNvSpPr/>
          <p:nvPr/>
        </p:nvSpPr>
        <p:spPr>
          <a:xfrm>
            <a:off x="5952744" y="2816352"/>
            <a:ext cx="5705856" cy="466344"/>
          </a:xfrm>
          <a:prstGeom prst="rect">
            <a:avLst/>
          </a:prstGeom>
          <a:solidFill>
            <a:srgbClr val="FFFFFF"/>
          </a:solidFill>
          <a:ln w="5080">
            <a:solidFill>
              <a:srgbClr val="D7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998464" y="2871216"/>
            <a:ext cx="56144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 significant association</a:t>
            </a:r>
            <a:endParaRPr lang="en-US" sz="940" dirty="0"/>
          </a:p>
        </p:txBody>
      </p:sp>
      <p:sp>
        <p:nvSpPr>
          <p:cNvPr id="31" name="Shape 29"/>
          <p:cNvSpPr/>
          <p:nvPr/>
        </p:nvSpPr>
        <p:spPr>
          <a:xfrm>
            <a:off x="685800" y="3282696"/>
            <a:ext cx="2414016" cy="466344"/>
          </a:xfrm>
          <a:prstGeom prst="rect">
            <a:avLst/>
          </a:prstGeom>
          <a:solidFill>
            <a:srgbClr val="F8FAFD"/>
          </a:solidFill>
          <a:ln w="5080">
            <a:solidFill>
              <a:srgbClr val="D7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31520" y="3337560"/>
            <a:ext cx="232257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Temperature</a:t>
            </a:r>
            <a:endParaRPr lang="en-US" sz="940" dirty="0"/>
          </a:p>
        </p:txBody>
      </p:sp>
      <p:sp>
        <p:nvSpPr>
          <p:cNvPr id="33" name="Shape 31"/>
          <p:cNvSpPr/>
          <p:nvPr/>
        </p:nvSpPr>
        <p:spPr>
          <a:xfrm>
            <a:off x="3099816" y="3282696"/>
            <a:ext cx="2852928" cy="466344"/>
          </a:xfrm>
          <a:prstGeom prst="rect">
            <a:avLst/>
          </a:prstGeom>
          <a:solidFill>
            <a:srgbClr val="F8FAFD"/>
          </a:solidFill>
          <a:ln w="5080">
            <a:solidFill>
              <a:srgbClr val="D7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145536" y="3337560"/>
            <a:ext cx="276148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|r| &lt; 0.035; FDR &gt; 0.50</a:t>
            </a:r>
            <a:endParaRPr lang="en-US" sz="940" dirty="0"/>
          </a:p>
        </p:txBody>
      </p:sp>
      <p:sp>
        <p:nvSpPr>
          <p:cNvPr id="35" name="Shape 33"/>
          <p:cNvSpPr/>
          <p:nvPr/>
        </p:nvSpPr>
        <p:spPr>
          <a:xfrm>
            <a:off x="5952744" y="3282696"/>
            <a:ext cx="5705856" cy="466344"/>
          </a:xfrm>
          <a:prstGeom prst="rect">
            <a:avLst/>
          </a:prstGeom>
          <a:solidFill>
            <a:srgbClr val="F8FAFD"/>
          </a:solidFill>
          <a:ln w="5080">
            <a:solidFill>
              <a:srgbClr val="D7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998464" y="3337560"/>
            <a:ext cx="56144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detectable relationship</a:t>
            </a:r>
            <a:endParaRPr lang="en-US" sz="940" dirty="0"/>
          </a:p>
        </p:txBody>
      </p:sp>
      <p:sp>
        <p:nvSpPr>
          <p:cNvPr id="37" name="Shape 35"/>
          <p:cNvSpPr/>
          <p:nvPr/>
        </p:nvSpPr>
        <p:spPr>
          <a:xfrm>
            <a:off x="731520" y="4343400"/>
            <a:ext cx="52120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DFE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731520" y="4343400"/>
            <a:ext cx="73152" cy="105156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932688" y="4507992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project can claim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932688" y="4855464"/>
            <a:ext cx="4892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Within the variables, time window, and 0–7 day lag framework tested, most Earth-system outcomes showed no robust association with solar flares.</a:t>
            </a:r>
            <a:endParaRPr lang="en-US" sz="1070" dirty="0"/>
          </a:p>
        </p:txBody>
      </p:sp>
      <p:sp>
        <p:nvSpPr>
          <p:cNvPr id="41" name="Shape 39"/>
          <p:cNvSpPr/>
          <p:nvPr/>
        </p:nvSpPr>
        <p:spPr>
          <a:xfrm>
            <a:off x="6355080" y="4343400"/>
            <a:ext cx="50749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DFE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355080" y="4343400"/>
            <a:ext cx="73152" cy="105156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556248" y="450799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project should not claim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556248" y="4855464"/>
            <a:ext cx="47548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analysis does not prove that solar flares never affect Earth systems, and it does not establish causal effects for precipitation.</a:t>
            </a:r>
            <a:endParaRPr lang="en-US" sz="107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30352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takeaways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76656" y="1078992"/>
            <a:ext cx="3886200" cy="0"/>
          </a:xfrm>
          <a:prstGeom prst="line">
            <a:avLst/>
          </a:prstGeom>
          <a:noFill/>
          <a:ln w="38100">
            <a:solidFill>
              <a:srgbClr val="00A6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49808" y="1536192"/>
            <a:ext cx="411480" cy="411480"/>
          </a:xfrm>
          <a:prstGeom prst="ellipse">
            <a:avLst/>
          </a:prstGeom>
          <a:solidFill>
            <a:srgbClr val="00A6D6"/>
          </a:solidFill>
          <a:ln w="12700">
            <a:solidFill>
              <a:srgbClr val="00A6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" y="162763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50876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Null results matter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1819656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C8D6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Earthquakes, volcanoes, and temperature showed no robust short-term relationships.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49808" y="2679192"/>
            <a:ext cx="411480" cy="41148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49808" y="277063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371600" y="265176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Precipitation stood out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71600" y="2962656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C8D6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small positive association appeared around a 6–7 day lag, especially for M-class flare counts.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49808" y="3822192"/>
            <a:ext cx="411480" cy="411480"/>
          </a:xfrm>
          <a:prstGeom prst="ellipse">
            <a:avLst/>
          </a:prstGeom>
          <a:solidFill>
            <a:srgbClr val="00A6D6"/>
          </a:solidFill>
          <a:ln w="12700">
            <a:solidFill>
              <a:srgbClr val="00A6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49808" y="391363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371600" y="379476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Effect size matters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71600" y="4105656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C8D6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 the significant precipitation result was small; it should be framed as exploratory.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49808" y="4965192"/>
            <a:ext cx="411480" cy="411480"/>
          </a:xfrm>
          <a:prstGeom prst="ellipse">
            <a:avLst/>
          </a:prstGeom>
          <a:solidFill>
            <a:srgbClr val="00A6D6"/>
          </a:solidFill>
          <a:ln w="12700">
            <a:solidFill>
              <a:srgbClr val="00A6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49808" y="505663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371600" y="493776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good next step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71600" y="5248656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C8D6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Extend with autocorrelation-aware time-series models and regional precipitation maps.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49808" y="601675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9C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one-sentence conclusion: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49808" y="6272784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Solar flares did not show broad short-term relationships across Earth systems, but precipitation showed a small, statistically significant association worth future investigation.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1217</Words>
  <Application>Microsoft Office PowerPoint</Application>
  <PresentationFormat>Widescreen</PresentationFormat>
  <Paragraphs>190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Solar Flares and Earth Phenomena</dc:title>
  <dc:subject>Solar Flares and Earth Phenomena Findings</dc:subject>
  <dc:creator>OpenAI</dc:creator>
  <cp:lastModifiedBy>Tag Gruen</cp:lastModifiedBy>
  <cp:revision>2</cp:revision>
  <dcterms:created xsi:type="dcterms:W3CDTF">2026-08-19T15:18:02Z</dcterms:created>
  <dcterms:modified xsi:type="dcterms:W3CDTF">2026-08-20T01:11:37Z</dcterms:modified>
</cp:coreProperties>
</file>